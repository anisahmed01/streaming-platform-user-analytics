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8" r:id="rId3"/>
    <p:sldId id="259" r:id="rId4"/>
    <p:sldId id="260" r:id="rId5"/>
    <p:sldId id="261" r:id="rId6"/>
    <p:sldId id="265" r:id="rId7"/>
    <p:sldId id="262" r:id="rId8"/>
    <p:sldId id="263" r:id="rId9"/>
    <p:sldId id="266" r:id="rId10"/>
    <p:sldId id="267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AB"/>
    <a:srgbClr val="A149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367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0205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35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113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519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5717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65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19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63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99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470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CC4DE5F6-90D3-4BC0-BEBB-00F502A4DAD1}" type="datetimeFigureOut">
              <a:rPr lang="en-US" smtClean="0"/>
              <a:t>13-Apr-26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4D962-3EB1-4C96-B294-9A8DD0E6465C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7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8A1813-E6A6-842F-4140-BC897384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6720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Streaming Platform Analytics: Engagement, Retention, Conversion &amp; Churn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FCEB608-64FB-BCB1-83D4-320AE9366F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7482" y="2082477"/>
            <a:ext cx="5937036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nto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Char char="•"/>
              <a:tabLst/>
            </a:pPr>
            <a:r>
              <a:rPr lang="en-US" altLang="en-US" sz="32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Name: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nto"/>
              </a:rPr>
              <a:t>Anis Ahmed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Char char="•"/>
              <a:tabLst/>
            </a:pPr>
            <a:r>
              <a:rPr lang="en-US" altLang="en-US" sz="32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Role: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nto"/>
              </a:rPr>
              <a:t>Data Analyst Project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Char char="•"/>
              <a:tabLst/>
            </a:pPr>
            <a:r>
              <a:rPr lang="en-US" altLang="en-US" sz="32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Tools: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into"/>
              </a:rPr>
              <a:t>Python | SQL | Pandas </a:t>
            </a:r>
          </a:p>
        </p:txBody>
      </p:sp>
    </p:spTree>
    <p:extLst>
      <p:ext uri="{BB962C8B-B14F-4D97-AF65-F5344CB8AC3E}">
        <p14:creationId xmlns:p14="http://schemas.microsoft.com/office/powerpoint/2010/main" val="137279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B3152-D152-644E-EDE5-8303619FB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6D2438-7E87-F629-6A42-D8EE39B6E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Problem &amp; Objective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2243EBC-DA24-D32B-7F84-5F719DE58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3" y="959095"/>
            <a:ext cx="9648967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nto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Business Problem: </a:t>
            </a:r>
          </a:p>
          <a:p>
            <a:pPr marL="793750" lvl="1" indent="-3429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sz="2200" dirty="0">
                <a:latin typeface="Ginto"/>
              </a:rPr>
              <a:t>The platform is facing challenges in converting active users into paying subscribers and retaining users over time. There is limited visibility into behavioral patterns leading to churn</a:t>
            </a:r>
            <a:endParaRPr lang="en-US" altLang="en-US" sz="2200" dirty="0">
              <a:latin typeface="Ginto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8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Objective</a:t>
            </a:r>
            <a:r>
              <a:rPr lang="en-US" altLang="en-US" sz="32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: </a:t>
            </a:r>
            <a:endParaRPr lang="en-US" altLang="en-US" sz="2200" dirty="0"/>
          </a:p>
          <a:p>
            <a:pPr marL="908050" lvl="1" indent="-457200" eaLnBrk="0" fontAlgn="base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200" dirty="0"/>
              <a:t>	</a:t>
            </a:r>
            <a:r>
              <a:rPr lang="en-US" sz="2200" dirty="0">
                <a:latin typeface="Ginto"/>
              </a:rPr>
              <a:t>Analyze user behavior and engagement patterns to uncover drivers of retention, conversion, and churn, and generate actionable insights to improve user retention and monetization</a:t>
            </a:r>
            <a:endParaRPr lang="en-US" altLang="en-US" sz="2200" dirty="0">
              <a:latin typeface="Ginto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Ginto"/>
              <a:ea typeface="+mj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1205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BBE09-D556-5474-5588-FC1A0136D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408BE2-E0C7-5D94-0786-D960785FA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Dataset Overview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D06FED5-0732-8925-2426-04BE99BCC3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4" y="1059123"/>
            <a:ext cx="9953766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nto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Users: 10,000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Events: ~134,000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Tables: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Users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Events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Sessions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Subscriptions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User Activity</a:t>
            </a:r>
          </a:p>
          <a:p>
            <a:pPr marL="450850" lvl="1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en-US" sz="26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Key Features: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User Activity tracking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Subscription Lifecycle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Engagement signals (viewing, search, etc.)</a:t>
            </a:r>
          </a:p>
        </p:txBody>
      </p:sp>
    </p:spTree>
    <p:extLst>
      <p:ext uri="{BB962C8B-B14F-4D97-AF65-F5344CB8AC3E}">
        <p14:creationId xmlns:p14="http://schemas.microsoft.com/office/powerpoint/2010/main" val="2138014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1730-B11F-F7A5-EAD3-4EE369DD7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B19250-A03E-E35B-954E-4EDF42D0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Preparation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421226C-2E7A-C371-13DB-A25A2CF9F5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4" y="1797785"/>
            <a:ext cx="9953766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nto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Handling missing values and inconsistencies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Created derived Tables:</a:t>
            </a:r>
            <a:endParaRPr lang="en-US" altLang="en-US" sz="1800" b="1" dirty="0">
              <a:latin typeface="Ginto"/>
              <a:ea typeface="+mj-ea"/>
              <a:cs typeface="Poppins" panose="00000500000000000000" pitchFamily="2" charset="0"/>
            </a:endParaRP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Sessions(user interaction level)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Subscriptions (lifecycle tracking)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User Activity (daily behavior)</a:t>
            </a:r>
          </a:p>
          <a:p>
            <a:pPr marL="450850" lvl="1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en-US" sz="26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Defined engagement events: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 err="1">
                <a:latin typeface="Ginto"/>
                <a:ea typeface="+mj-ea"/>
                <a:cs typeface="Poppins" panose="00000500000000000000" pitchFamily="2" charset="0"/>
              </a:rPr>
              <a:t>app_open</a:t>
            </a: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, search, play_content, watchlist</a:t>
            </a:r>
          </a:p>
        </p:txBody>
      </p:sp>
    </p:spTree>
    <p:extLst>
      <p:ext uri="{BB962C8B-B14F-4D97-AF65-F5344CB8AC3E}">
        <p14:creationId xmlns:p14="http://schemas.microsoft.com/office/powerpoint/2010/main" val="34007040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4BBE6-9B12-AB94-81C3-4B01D2E84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868E7F-5CB0-C363-716C-D4D1BE4CF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Conversion Insight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7FEB704-67F2-A363-B638-EF36A703E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4" y="2259449"/>
            <a:ext cx="4772166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Key Finding: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Users who consume content are ~5-6x more likely to convert</a:t>
            </a:r>
          </a:p>
          <a:p>
            <a:pPr marL="450850" lvl="1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en-US" sz="26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Interpretation: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Content consumption is the strongest driver of monetization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822031-F97A-3E94-9D3F-E5E252B6F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1367" y="1504082"/>
            <a:ext cx="5286233" cy="384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0123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5B924-3DE2-B026-11C2-B3CF63FAB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43FF47-614B-7FAB-D0E0-C2BBB6A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Retention Insight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3AC6B40-12C8-6D84-150C-318EB14EC8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4" y="2120950"/>
            <a:ext cx="3971497" cy="2616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Key Finding: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High Activity users are ~5x more likely to return</a:t>
            </a:r>
          </a:p>
          <a:p>
            <a:pPr marL="450850" lvl="1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en-US" sz="26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Interpretation: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Early and frequent usage builds user habit and retention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08FF0-4FFF-1A47-2ED6-E12795E78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626" y="1593893"/>
            <a:ext cx="5712699" cy="4097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7767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AA09-6049-F232-9455-8C7BC56F6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0C9D06-CB16-5657-AC80-783C372B3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Engagement vs Subscription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3069890-55C7-1053-022A-FC2294B647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4" y="1428453"/>
            <a:ext cx="3603007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Key Finding: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Subscribed users consume ~40% more content per active day</a:t>
            </a:r>
          </a:p>
          <a:p>
            <a:pPr marL="450850" lvl="1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</a:pPr>
            <a:r>
              <a:rPr lang="en-US" altLang="en-US" sz="26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Interpretation: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Paying users derive more value from the platform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Engagement and monetization are strongly linked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36CA80-9C2A-8799-92D2-468C58BCA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263" y="1442855"/>
            <a:ext cx="6050507" cy="3972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682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7D4AD-1DF0-D94F-6FD3-3DE85DE67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CD777B9-FB75-46D2-AA14-B28FB134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Churn Behavior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5207055-D32F-1083-2266-6AF2F9C83C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4" y="1905509"/>
            <a:ext cx="444916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nto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Key Finding: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Engagement drops by ~60% in the 7 days before churn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Interpretation: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Churn is preceded by behavioral decline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Strong signal for churn prediction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0946F2-1FE1-DCEE-E44E-CFCFE1B8C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407" y="1310185"/>
            <a:ext cx="4931759" cy="387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4888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88EA1-B413-C062-4534-4BBCBEFDD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851E47-C09F-0938-E590-B1BE59F6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Post-Churn Behavior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3C51205-56FC-21D4-036E-3B127088D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4" y="1787238"/>
            <a:ext cx="4053384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nto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Key Finding: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Only ~5% users remain active after churn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Interpretation: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Churn is a terminal event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Post-churn recovery opportunities are limited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35FE69-6311-1109-75A9-7D12D6F9E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218" y="1204602"/>
            <a:ext cx="5730560" cy="424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32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45B0E-32EA-3028-BB1A-446C877E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4795BB-F4A7-E1BE-97E3-A742B290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Platform Analysis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E4F5246-D42C-B3DC-9F03-54C4B42CDE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9034" y="1490006"/>
            <a:ext cx="3404213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nto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Key Finding: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No significant difference across Android, iOS, and Web</a:t>
            </a:r>
            <a:endParaRPr lang="en-US" altLang="en-US" sz="2600" dirty="0">
              <a:solidFill>
                <a:srgbClr val="FFC000"/>
              </a:solidFill>
              <a:latin typeface="Ginto"/>
              <a:ea typeface="+mj-ea"/>
              <a:cs typeface="Poppins" panose="00000500000000000000" pitchFamily="2" charset="0"/>
            </a:endParaRP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Interpretation: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Platform is NOT a key driver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1800" dirty="0">
                <a:latin typeface="Ginto"/>
                <a:ea typeface="+mj-ea"/>
                <a:cs typeface="Poppins" panose="00000500000000000000" pitchFamily="2" charset="0"/>
              </a:rPr>
              <a:t>Focus should be on user behavior, not device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34C373-909F-B812-447B-07112848B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247" y="1370466"/>
            <a:ext cx="6986281" cy="411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3448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C119E-3D99-C044-BA02-EB18A3163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CFAAD-B62C-4B34-FEF9-9C120B57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Key Insights Summary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B7E8DEF-8409-701D-41C6-B8366A9E97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19117" y="2413338"/>
            <a:ext cx="99537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>
                <a:latin typeface="Ginto"/>
                <a:ea typeface="+mj-ea"/>
                <a:cs typeface="Poppins" panose="00000500000000000000" pitchFamily="2" charset="0"/>
              </a:rPr>
              <a:t>Engagement drives conversion and retention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>
                <a:latin typeface="Ginto"/>
                <a:ea typeface="+mj-ea"/>
                <a:cs typeface="Poppins" panose="00000500000000000000" pitchFamily="2" charset="0"/>
              </a:rPr>
              <a:t>Declining activity is a strong indicator of churn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>
                <a:latin typeface="Ginto"/>
                <a:ea typeface="+mj-ea"/>
                <a:cs typeface="Poppins" panose="00000500000000000000" pitchFamily="2" charset="0"/>
              </a:rPr>
              <a:t>Most churned users do not return</a:t>
            </a: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b="1" dirty="0">
                <a:latin typeface="Ginto"/>
                <a:ea typeface="+mj-ea"/>
                <a:cs typeface="Poppins" panose="00000500000000000000" pitchFamily="2" charset="0"/>
              </a:rPr>
              <a:t>Large portion of active users are not monetized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effectLst/>
              <a:latin typeface="Ginto"/>
              <a:ea typeface="+mj-ea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380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6668D-1D44-4676-71C8-F28A03D5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15DB18-C378-D098-C9D0-459219ECB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2885"/>
            <a:ext cx="10058400" cy="10573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Recommendations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D374818-A371-15BC-A860-BB0D0FDDED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3834" y="1136068"/>
            <a:ext cx="10058400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nto"/>
            </a:endParaRPr>
          </a:p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ea typeface="+mj-ea"/>
                <a:cs typeface="Poppins" panose="00000500000000000000" pitchFamily="2" charset="0"/>
              </a:rPr>
              <a:t>Early Churn Detection: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Ginto"/>
                <a:cs typeface="Poppins" panose="00000500000000000000" pitchFamily="2" charset="0"/>
              </a:rPr>
              <a:t>Monitor drop in engagement 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Ginto"/>
                <a:cs typeface="Poppins" panose="00000500000000000000" pitchFamily="2" charset="0"/>
              </a:rPr>
              <a:t>Trigger alerts for declining activity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Improve Content Discovery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Ginto"/>
                <a:cs typeface="Poppins" panose="00000500000000000000" pitchFamily="2" charset="0"/>
              </a:rPr>
              <a:t>Increase visibility of relevant content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Ginto"/>
                <a:cs typeface="Poppins" panose="00000500000000000000" pitchFamily="2" charset="0"/>
              </a:rPr>
              <a:t>Encourage early engagement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Convert Active Users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Ginto"/>
                <a:cs typeface="Poppins" panose="00000500000000000000" pitchFamily="2" charset="0"/>
              </a:rPr>
              <a:t>Target active but non-subscribed users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Ginto"/>
                <a:cs typeface="Poppins" panose="00000500000000000000" pitchFamily="2" charset="0"/>
              </a:rPr>
              <a:t>Personalized offers &amp; nudges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</a:pPr>
            <a:r>
              <a:rPr lang="en-US" altLang="en-US" sz="2400" b="1" dirty="0">
                <a:solidFill>
                  <a:srgbClr val="FFC000"/>
                </a:solidFill>
                <a:latin typeface="Ginto"/>
                <a:cs typeface="Poppins" panose="00000500000000000000" pitchFamily="2" charset="0"/>
              </a:rPr>
              <a:t>Focus on Engagement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Ginto"/>
                <a:cs typeface="Poppins" panose="00000500000000000000" pitchFamily="2" charset="0"/>
              </a:rPr>
              <a:t>Churn is a terminal event Increase content consumption</a:t>
            </a:r>
          </a:p>
          <a:p>
            <a:pPr marL="1371600" lvl="2" indent="-45720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Ginto"/>
                <a:cs typeface="Poppins" panose="00000500000000000000" pitchFamily="2" charset="0"/>
              </a:rPr>
              <a:t>Improve onboarding experience</a:t>
            </a:r>
          </a:p>
        </p:txBody>
      </p:sp>
    </p:spTree>
    <p:extLst>
      <p:ext uri="{BB962C8B-B14F-4D97-AF65-F5344CB8AC3E}">
        <p14:creationId xmlns:p14="http://schemas.microsoft.com/office/powerpoint/2010/main" val="4056518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178B2DAB-5DDE-4060-A857-D2E1CDA925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212</TotalTime>
  <Words>430</Words>
  <Application>Microsoft Office PowerPoint</Application>
  <PresentationFormat>Widescreen</PresentationFormat>
  <Paragraphs>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Ginto</vt:lpstr>
      <vt:lpstr>MS Shell Dlg 2</vt:lpstr>
      <vt:lpstr>Poppins</vt:lpstr>
      <vt:lpstr>Wingdings</vt:lpstr>
      <vt:lpstr>Wingdings 3</vt:lpstr>
      <vt:lpstr>Madison</vt:lpstr>
      <vt:lpstr>Streaming Platform Analytics: Engagement, Retention, Conversion &amp; Churn Analysis</vt:lpstr>
      <vt:lpstr>Business Problem &amp; Objective</vt:lpstr>
      <vt:lpstr>Dataset Overview</vt:lpstr>
      <vt:lpstr>Data Preparation</vt:lpstr>
      <vt:lpstr>Conversion Insight</vt:lpstr>
      <vt:lpstr>Retention Insight</vt:lpstr>
      <vt:lpstr>Engagement vs Subscription</vt:lpstr>
      <vt:lpstr>Churn Behavior</vt:lpstr>
      <vt:lpstr>Post-Churn Behavior</vt:lpstr>
      <vt:lpstr>Platform Analysis</vt:lpstr>
      <vt:lpstr>Key Insights Summary</vt:lpstr>
      <vt:lpstr>Business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 Ahmed</dc:creator>
  <cp:lastModifiedBy>Anis Ahmed</cp:lastModifiedBy>
  <cp:revision>2</cp:revision>
  <dcterms:created xsi:type="dcterms:W3CDTF">2026-04-13T08:27:28Z</dcterms:created>
  <dcterms:modified xsi:type="dcterms:W3CDTF">2026-04-13T11:59:32Z</dcterms:modified>
</cp:coreProperties>
</file>